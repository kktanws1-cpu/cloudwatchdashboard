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0152" cy="1005840"/>
          </a:xfrm>
          <a:prstGeom prst="rect">
            <a:avLst/>
          </a:prstGeom>
          <a:noFill/>
        </p:spPr>
        <p:txBody>
          <a:bodyPr wrap="square">
            <a:spAutoFit/>
          </a:bodyPr>
          <a:lstStyle/>
          <a:p>
            <a:pPr algn="ctr"/>
            <a:r>
              <a:rPr sz="4000" b="1">
                <a:solidFill>
                  <a:srgbClr val="FFFFFF"/>
                </a:solidFill>
              </a:rPr>
              <a:t>Mailpit on AWS</a:t>
            </a:r>
          </a:p>
        </p:txBody>
      </p:sp>
      <p:sp>
        <p:nvSpPr>
          <p:cNvPr id="4" name="TextBox 3"/>
          <p:cNvSpPr txBox="1"/>
          <p:nvPr/>
        </p:nvSpPr>
        <p:spPr>
          <a:xfrm>
            <a:off x="914400" y="2606040"/>
            <a:ext cx="10360152" cy="594360"/>
          </a:xfrm>
          <a:prstGeom prst="rect">
            <a:avLst/>
          </a:prstGeom>
          <a:noFill/>
        </p:spPr>
        <p:txBody>
          <a:bodyPr wrap="square">
            <a:spAutoFit/>
          </a:bodyPr>
          <a:lstStyle/>
          <a:p>
            <a:pPr algn="ctr"/>
            <a:r>
              <a:rPr sz="1800" b="0">
                <a:solidFill>
                  <a:srgbClr val="AACCFF"/>
                </a:solidFill>
              </a:rPr>
              <a:t>Internet Access Architecture for Intranet Staff (No ALB)</a:t>
            </a:r>
          </a:p>
        </p:txBody>
      </p:sp>
      <p:sp>
        <p:nvSpPr>
          <p:cNvPr id="5" name="TextBox 4"/>
          <p:cNvSpPr txBox="1"/>
          <p:nvPr/>
        </p:nvSpPr>
        <p:spPr>
          <a:xfrm>
            <a:off x="914400" y="5394960"/>
            <a:ext cx="10360152" cy="457200"/>
          </a:xfrm>
          <a:prstGeom prst="rect">
            <a:avLst/>
          </a:prstGeom>
          <a:noFill/>
        </p:spPr>
        <p:txBody>
          <a:bodyPr wrap="square">
            <a:spAutoFit/>
          </a:bodyPr>
          <a:lstStyle/>
          <a:p>
            <a:pPr algn="ctr"/>
            <a:r>
              <a:rPr sz="1300" b="0">
                <a:solidFill>
                  <a:srgbClr val="88AACC"/>
                </a:solidFill>
              </a:rPr>
              <a:t>UAT  |  ap-southeast-1  |  CloudFront → EC2 (direct)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11795760" cy="548640"/>
          </a:xfrm>
          <a:prstGeom prst="rect">
            <a:avLst/>
          </a:prstGeom>
          <a:noFill/>
        </p:spPr>
        <p:txBody>
          <a:bodyPr wrap="square">
            <a:spAutoFit/>
          </a:bodyPr>
          <a:lstStyle/>
          <a:p>
            <a:pPr algn="l"/>
            <a:r>
              <a:rPr sz="1800" b="1">
                <a:solidFill>
                  <a:srgbClr val="FFFFFF"/>
                </a:solidFill>
              </a:rPr>
              <a:t>Architecture Flow — CloudFront Direct to EC2 (no ALB)</a:t>
            </a:r>
          </a:p>
        </p:txBody>
      </p:sp>
      <p:sp>
        <p:nvSpPr>
          <p:cNvPr id="4" name="TextBox 3"/>
          <p:cNvSpPr txBox="1"/>
          <p:nvPr/>
        </p:nvSpPr>
        <p:spPr>
          <a:xfrm>
            <a:off x="137160" y="914400"/>
            <a:ext cx="2286000" cy="292608"/>
          </a:xfrm>
          <a:prstGeom prst="rect">
            <a:avLst/>
          </a:prstGeom>
          <a:noFill/>
        </p:spPr>
        <p:txBody>
          <a:bodyPr wrap="square">
            <a:spAutoFit/>
          </a:bodyPr>
          <a:lstStyle/>
          <a:p>
            <a:pPr algn="l"/>
            <a:r>
              <a:rPr sz="1000" b="1">
                <a:solidFill>
                  <a:srgbClr val="FF0000"/>
                </a:solidFill>
              </a:rPr>
              <a:t>INTERNET ZONE</a:t>
            </a:r>
          </a:p>
        </p:txBody>
      </p:sp>
      <p:sp>
        <p:nvSpPr>
          <p:cNvPr id="5" name="TextBox 4"/>
          <p:cNvSpPr txBox="1"/>
          <p:nvPr/>
        </p:nvSpPr>
        <p:spPr>
          <a:xfrm>
            <a:off x="8503920" y="914400"/>
            <a:ext cx="3474720" cy="292608"/>
          </a:xfrm>
          <a:prstGeom prst="rect">
            <a:avLst/>
          </a:prstGeom>
          <a:noFill/>
        </p:spPr>
        <p:txBody>
          <a:bodyPr wrap="square">
            <a:spAutoFit/>
          </a:bodyPr>
          <a:lstStyle/>
          <a:p>
            <a:pPr algn="l"/>
            <a:r>
              <a:rPr sz="1000" b="1">
                <a:solidFill>
                  <a:srgbClr val="248814"/>
                </a:solidFill>
              </a:rPr>
              <a:t>INTRANET ZONE / APP TIER</a:t>
            </a:r>
          </a:p>
        </p:txBody>
      </p:sp>
      <p:sp>
        <p:nvSpPr>
          <p:cNvPr id="6" name="Rectangle 5"/>
          <p:cNvSpPr/>
          <p:nvPr/>
        </p:nvSpPr>
        <p:spPr>
          <a:xfrm>
            <a:off x="137160" y="1280160"/>
            <a:ext cx="1737360" cy="960120"/>
          </a:xfrm>
          <a:prstGeom prst="rect">
            <a:avLst/>
          </a:prstGeom>
          <a:solidFill>
            <a:srgbClr val="F5F5F5"/>
          </a:solidFill>
          <a:ln w="1905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1353312"/>
            <a:ext cx="1645919" cy="822960"/>
          </a:xfrm>
          <a:prstGeom prst="rect">
            <a:avLst/>
          </a:prstGeom>
          <a:noFill/>
        </p:spPr>
        <p:txBody>
          <a:bodyPr wrap="square">
            <a:spAutoFit/>
          </a:bodyPr>
          <a:lstStyle/>
          <a:p>
            <a:pPr algn="ctr"/>
            <a:r>
              <a:rPr sz="950" b="0">
                <a:solidFill>
                  <a:srgbClr val="222222"/>
                </a:solidFill>
              </a:rPr>
              <a:t>(1) GSIB / WOG
Notebook</a:t>
            </a:r>
          </a:p>
        </p:txBody>
      </p:sp>
      <p:sp>
        <p:nvSpPr>
          <p:cNvPr id="8" name="Rectangle 7"/>
          <p:cNvSpPr/>
          <p:nvPr/>
        </p:nvSpPr>
        <p:spPr>
          <a:xfrm>
            <a:off x="2057400" y="1280160"/>
            <a:ext cx="1737360" cy="96012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1353312"/>
            <a:ext cx="1645919" cy="822960"/>
          </a:xfrm>
          <a:prstGeom prst="rect">
            <a:avLst/>
          </a:prstGeom>
          <a:noFill/>
        </p:spPr>
        <p:txBody>
          <a:bodyPr wrap="square">
            <a:spAutoFit/>
          </a:bodyPr>
          <a:lstStyle/>
          <a:p>
            <a:pPr algn="ctr"/>
            <a:r>
              <a:rPr sz="950" b="0">
                <a:solidFill>
                  <a:srgbClr val="222222"/>
                </a:solidFill>
              </a:rPr>
              <a:t>(2) WOG Domain
mailpit.xxx.gov.sg</a:t>
            </a:r>
          </a:p>
        </p:txBody>
      </p:sp>
      <p:sp>
        <p:nvSpPr>
          <p:cNvPr id="10" name="Rectangle 9"/>
          <p:cNvSpPr/>
          <p:nvPr/>
        </p:nvSpPr>
        <p:spPr>
          <a:xfrm>
            <a:off x="3977639" y="1280160"/>
            <a:ext cx="1737360" cy="960120"/>
          </a:xfrm>
          <a:prstGeom prst="rect">
            <a:avLst/>
          </a:prstGeom>
          <a:solidFill>
            <a:srgbClr val="E8D5FF"/>
          </a:solidFill>
          <a:ln w="19050">
            <a:solidFill>
              <a:srgbClr val="8C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59" y="1353312"/>
            <a:ext cx="1645919" cy="822960"/>
          </a:xfrm>
          <a:prstGeom prst="rect">
            <a:avLst/>
          </a:prstGeom>
          <a:noFill/>
        </p:spPr>
        <p:txBody>
          <a:bodyPr wrap="square">
            <a:spAutoFit/>
          </a:bodyPr>
          <a:lstStyle/>
          <a:p>
            <a:pPr algn="ctr"/>
            <a:r>
              <a:rPr sz="950" b="0">
                <a:solidFill>
                  <a:srgbClr val="222222"/>
                </a:solidFill>
              </a:rPr>
              <a:t>(3) Route 53
DNS</a:t>
            </a:r>
          </a:p>
        </p:txBody>
      </p:sp>
      <p:sp>
        <p:nvSpPr>
          <p:cNvPr id="12" name="Rectangle 11"/>
          <p:cNvSpPr/>
          <p:nvPr/>
        </p:nvSpPr>
        <p:spPr>
          <a:xfrm>
            <a:off x="5897880" y="1280160"/>
            <a:ext cx="1737360" cy="960120"/>
          </a:xfrm>
          <a:prstGeom prst="rect">
            <a:avLst/>
          </a:prstGeom>
          <a:solidFill>
            <a:srgbClr val="FFD5EA"/>
          </a:solidFill>
          <a:ln w="19050">
            <a:solidFill>
              <a:srgbClr val="E715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0" y="1353312"/>
            <a:ext cx="1645919" cy="822960"/>
          </a:xfrm>
          <a:prstGeom prst="rect">
            <a:avLst/>
          </a:prstGeom>
          <a:noFill/>
        </p:spPr>
        <p:txBody>
          <a:bodyPr wrap="square">
            <a:spAutoFit/>
          </a:bodyPr>
          <a:lstStyle/>
          <a:p>
            <a:pPr algn="ctr"/>
            <a:r>
              <a:rPr sz="950" b="0">
                <a:solidFill>
                  <a:srgbClr val="222222"/>
                </a:solidFill>
              </a:rPr>
              <a:t>(4) CloudFront
(Mailpit CDN)</a:t>
            </a:r>
          </a:p>
        </p:txBody>
      </p:sp>
      <p:sp>
        <p:nvSpPr>
          <p:cNvPr id="14" name="Rectangle 13"/>
          <p:cNvSpPr/>
          <p:nvPr/>
        </p:nvSpPr>
        <p:spPr>
          <a:xfrm>
            <a:off x="7818120" y="1280160"/>
            <a:ext cx="1737360" cy="960120"/>
          </a:xfrm>
          <a:prstGeom prst="rect">
            <a:avLst/>
          </a:prstGeom>
          <a:solidFill>
            <a:srgbClr val="FFD5D5"/>
          </a:solidFill>
          <a:ln w="19050">
            <a:solidFill>
              <a:srgbClr val="DD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1353312"/>
            <a:ext cx="1645919" cy="822960"/>
          </a:xfrm>
          <a:prstGeom prst="rect">
            <a:avLst/>
          </a:prstGeom>
          <a:noFill/>
        </p:spPr>
        <p:txBody>
          <a:bodyPr wrap="square">
            <a:spAutoFit/>
          </a:bodyPr>
          <a:lstStyle/>
          <a:p>
            <a:pPr algn="ctr"/>
            <a:r>
              <a:rPr sz="950" b="0">
                <a:solidFill>
                  <a:srgbClr val="222222"/>
                </a:solidFill>
              </a:rPr>
              <a:t>(5) AWS WAF
(IP Allowlist)</a:t>
            </a:r>
          </a:p>
        </p:txBody>
      </p:sp>
      <p:sp>
        <p:nvSpPr>
          <p:cNvPr id="16" name="Rectangle 15"/>
          <p:cNvSpPr/>
          <p:nvPr/>
        </p:nvSpPr>
        <p:spPr>
          <a:xfrm>
            <a:off x="9738360" y="1280160"/>
            <a:ext cx="2286000" cy="960120"/>
          </a:xfrm>
          <a:prstGeom prst="rect">
            <a:avLst/>
          </a:prstGeom>
          <a:solidFill>
            <a:srgbClr val="FFE5CC"/>
          </a:solidFill>
          <a:ln w="19050">
            <a:solidFill>
              <a:srgbClr val="D86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1353312"/>
            <a:ext cx="2194560" cy="822960"/>
          </a:xfrm>
          <a:prstGeom prst="rect">
            <a:avLst/>
          </a:prstGeom>
          <a:noFill/>
        </p:spPr>
        <p:txBody>
          <a:bodyPr wrap="square">
            <a:spAutoFit/>
          </a:bodyPr>
          <a:lstStyle/>
          <a:p>
            <a:pPr algn="ctr"/>
            <a:r>
              <a:rPr sz="950" b="0">
                <a:solidFill>
                  <a:srgbClr val="222222"/>
                </a:solidFill>
              </a:rPr>
              <a:t>(6) Mailpit EC2
(EIP:8025)
Email Capture</a:t>
            </a:r>
          </a:p>
        </p:txBody>
      </p:sp>
      <p:sp>
        <p:nvSpPr>
          <p:cNvPr id="18" name="TextBox 17"/>
          <p:cNvSpPr txBox="1"/>
          <p:nvPr/>
        </p:nvSpPr>
        <p:spPr>
          <a:xfrm>
            <a:off x="1892807" y="1645920"/>
            <a:ext cx="182880" cy="274320"/>
          </a:xfrm>
          <a:prstGeom prst="rect">
            <a:avLst/>
          </a:prstGeom>
          <a:noFill/>
        </p:spPr>
        <p:txBody>
          <a:bodyPr wrap="square">
            <a:spAutoFit/>
          </a:bodyPr>
          <a:lstStyle/>
          <a:p>
            <a:pPr algn="ctr"/>
            <a:r>
              <a:rPr sz="1600" b="1">
                <a:solidFill>
                  <a:srgbClr val="2382B8"/>
                </a:solidFill>
              </a:rPr>
              <a:t>→</a:t>
            </a:r>
          </a:p>
        </p:txBody>
      </p:sp>
      <p:sp>
        <p:nvSpPr>
          <p:cNvPr id="19" name="TextBox 18"/>
          <p:cNvSpPr txBox="1"/>
          <p:nvPr/>
        </p:nvSpPr>
        <p:spPr>
          <a:xfrm>
            <a:off x="3813048" y="1645920"/>
            <a:ext cx="182880" cy="274320"/>
          </a:xfrm>
          <a:prstGeom prst="rect">
            <a:avLst/>
          </a:prstGeom>
          <a:noFill/>
        </p:spPr>
        <p:txBody>
          <a:bodyPr wrap="square">
            <a:spAutoFit/>
          </a:bodyPr>
          <a:lstStyle/>
          <a:p>
            <a:pPr algn="ctr"/>
            <a:r>
              <a:rPr sz="1600" b="1">
                <a:solidFill>
                  <a:srgbClr val="2382B8"/>
                </a:solidFill>
              </a:rPr>
              <a:t>→</a:t>
            </a:r>
          </a:p>
        </p:txBody>
      </p:sp>
      <p:sp>
        <p:nvSpPr>
          <p:cNvPr id="20" name="TextBox 19"/>
          <p:cNvSpPr txBox="1"/>
          <p:nvPr/>
        </p:nvSpPr>
        <p:spPr>
          <a:xfrm>
            <a:off x="5733288" y="1645920"/>
            <a:ext cx="182880" cy="274320"/>
          </a:xfrm>
          <a:prstGeom prst="rect">
            <a:avLst/>
          </a:prstGeom>
          <a:noFill/>
        </p:spPr>
        <p:txBody>
          <a:bodyPr wrap="square">
            <a:spAutoFit/>
          </a:bodyPr>
          <a:lstStyle/>
          <a:p>
            <a:pPr algn="ctr"/>
            <a:r>
              <a:rPr sz="1600" b="1">
                <a:solidFill>
                  <a:srgbClr val="2382B8"/>
                </a:solidFill>
              </a:rPr>
              <a:t>→</a:t>
            </a:r>
          </a:p>
        </p:txBody>
      </p:sp>
      <p:sp>
        <p:nvSpPr>
          <p:cNvPr id="21" name="TextBox 20"/>
          <p:cNvSpPr txBox="1"/>
          <p:nvPr/>
        </p:nvSpPr>
        <p:spPr>
          <a:xfrm>
            <a:off x="7653527" y="1645920"/>
            <a:ext cx="182880" cy="274320"/>
          </a:xfrm>
          <a:prstGeom prst="rect">
            <a:avLst/>
          </a:prstGeom>
          <a:noFill/>
        </p:spPr>
        <p:txBody>
          <a:bodyPr wrap="square">
            <a:spAutoFit/>
          </a:bodyPr>
          <a:lstStyle/>
          <a:p>
            <a:pPr algn="ctr"/>
            <a:r>
              <a:rPr sz="1600" b="1">
                <a:solidFill>
                  <a:srgbClr val="2382B8"/>
                </a:solidFill>
              </a:rPr>
              <a:t>→</a:t>
            </a:r>
          </a:p>
        </p:txBody>
      </p:sp>
      <p:sp>
        <p:nvSpPr>
          <p:cNvPr id="22" name="TextBox 21"/>
          <p:cNvSpPr txBox="1"/>
          <p:nvPr/>
        </p:nvSpPr>
        <p:spPr>
          <a:xfrm>
            <a:off x="9573768" y="1645920"/>
            <a:ext cx="182880" cy="274320"/>
          </a:xfrm>
          <a:prstGeom prst="rect">
            <a:avLst/>
          </a:prstGeom>
          <a:noFill/>
        </p:spPr>
        <p:txBody>
          <a:bodyPr wrap="square">
            <a:spAutoFit/>
          </a:bodyPr>
          <a:lstStyle/>
          <a:p>
            <a:pPr algn="ctr"/>
            <a:r>
              <a:rPr sz="1600" b="1">
                <a:solidFill>
                  <a:srgbClr val="2382B8"/>
                </a:solidFill>
              </a:rPr>
              <a:t>→</a:t>
            </a:r>
          </a:p>
        </p:txBody>
      </p:sp>
      <p:sp>
        <p:nvSpPr>
          <p:cNvPr id="23" name="Rectangle 22"/>
          <p:cNvSpPr/>
          <p:nvPr/>
        </p:nvSpPr>
        <p:spPr>
          <a:xfrm>
            <a:off x="5577840" y="2468880"/>
            <a:ext cx="4389120" cy="777240"/>
          </a:xfrm>
          <a:prstGeom prst="rect">
            <a:avLst/>
          </a:prstGeom>
          <a:solidFill>
            <a:srgbClr val="FFF2CC"/>
          </a:solidFill>
          <a:ln w="1905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23560" y="2514600"/>
            <a:ext cx="4297680" cy="713232"/>
          </a:xfrm>
          <a:prstGeom prst="rect">
            <a:avLst/>
          </a:prstGeom>
          <a:noFill/>
        </p:spPr>
        <p:txBody>
          <a:bodyPr wrap="square">
            <a:spAutoFit/>
          </a:bodyPr>
          <a:lstStyle/>
          <a:p>
            <a:pPr algn="ctr"/>
            <a:r>
              <a:rPr sz="900" b="0">
                <a:solidFill>
                  <a:srgbClr val="554400"/>
                </a:solidFill>
              </a:rPr>
              <a:t>Firewall Rule: Allow HTTPS (443) from CloudFront
managed prefix list directly to EC2 SG port 8025.
No ALB required — CloudFront custom origin = EIP:8025</a:t>
            </a:r>
          </a:p>
        </p:txBody>
      </p:sp>
      <p:sp>
        <p:nvSpPr>
          <p:cNvPr id="25" name="Rectangle 24"/>
          <p:cNvSpPr/>
          <p:nvPr/>
        </p:nvSpPr>
        <p:spPr>
          <a:xfrm>
            <a:off x="137160" y="2468880"/>
            <a:ext cx="5303520" cy="777240"/>
          </a:xfrm>
          <a:prstGeom prst="rect">
            <a:avLst/>
          </a:prstGeom>
          <a:solidFill>
            <a:srgbClr val="F0FFF0"/>
          </a:solidFill>
          <a:ln w="19050">
            <a:solidFill>
              <a:srgbClr val="2488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 y="2514600"/>
            <a:ext cx="5120640" cy="713232"/>
          </a:xfrm>
          <a:prstGeom prst="rect">
            <a:avLst/>
          </a:prstGeom>
          <a:noFill/>
        </p:spPr>
        <p:txBody>
          <a:bodyPr wrap="square">
            <a:spAutoFit/>
          </a:bodyPr>
          <a:lstStyle/>
          <a:p>
            <a:pPr algn="l"/>
            <a:r>
              <a:rPr sz="900" b="0">
                <a:solidFill>
                  <a:srgbClr val="114411"/>
                </a:solidFill>
              </a:rPr>
              <a:t>EC2 Security Group:
 • Port 8025 (web UI) — allow from CloudFront prefix list only
 • Port 1025 (SMTP)   — allow from internal VPC CIDR (app servers)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11795760" cy="548640"/>
          </a:xfrm>
          <a:prstGeom prst="rect">
            <a:avLst/>
          </a:prstGeom>
          <a:noFill/>
        </p:spPr>
        <p:txBody>
          <a:bodyPr wrap="square">
            <a:spAutoFit/>
          </a:bodyPr>
          <a:lstStyle/>
          <a:p>
            <a:pPr algn="l"/>
            <a:r>
              <a:rPr sz="1800" b="1">
                <a:solidFill>
                  <a:srgbClr val="FFFFFF"/>
                </a:solidFill>
              </a:rPr>
              <a:t>New Components (v6 — No ALB)</a:t>
            </a:r>
          </a:p>
        </p:txBody>
      </p:sp>
      <p:sp>
        <p:nvSpPr>
          <p:cNvPr id="4" name="Rectangle 3"/>
          <p:cNvSpPr/>
          <p:nvPr/>
        </p:nvSpPr>
        <p:spPr>
          <a:xfrm>
            <a:off x="182880" y="804672"/>
            <a:ext cx="2103120" cy="86868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41832"/>
            <a:ext cx="2011680" cy="594360"/>
          </a:xfrm>
          <a:prstGeom prst="rect">
            <a:avLst/>
          </a:prstGeom>
          <a:noFill/>
        </p:spPr>
        <p:txBody>
          <a:bodyPr wrap="square">
            <a:spAutoFit/>
          </a:bodyPr>
          <a:lstStyle/>
          <a:p>
            <a:pPr algn="ctr"/>
            <a:r>
              <a:rPr sz="1100" b="1">
                <a:solidFill>
                  <a:srgbClr val="111155"/>
                </a:solidFill>
              </a:rPr>
              <a:t>WOG Domain</a:t>
            </a:r>
          </a:p>
        </p:txBody>
      </p:sp>
      <p:sp>
        <p:nvSpPr>
          <p:cNvPr id="6" name="TextBox 5"/>
          <p:cNvSpPr txBox="1"/>
          <p:nvPr/>
        </p:nvSpPr>
        <p:spPr>
          <a:xfrm>
            <a:off x="2423160" y="896112"/>
            <a:ext cx="9555480" cy="731520"/>
          </a:xfrm>
          <a:prstGeom prst="rect">
            <a:avLst/>
          </a:prstGeom>
          <a:noFill/>
        </p:spPr>
        <p:txBody>
          <a:bodyPr wrap="square">
            <a:spAutoFit/>
          </a:bodyPr>
          <a:lstStyle/>
          <a:p>
            <a:pPr algn="l"/>
            <a:r>
              <a:rPr sz="1000" b="0">
                <a:solidFill>
                  <a:srgbClr val="222222"/>
                </a:solidFill>
              </a:rPr>
              <a:t>Public internet-facing DNS name (e.g. mailpit.example.gov.sg) under the Whole-of-Government domain. Registered in Route 53 and pointed at the CloudFront distribution as an A alias record.</a:t>
            </a:r>
          </a:p>
        </p:txBody>
      </p:sp>
      <p:sp>
        <p:nvSpPr>
          <p:cNvPr id="7" name="Rectangle 6"/>
          <p:cNvSpPr/>
          <p:nvPr/>
        </p:nvSpPr>
        <p:spPr>
          <a:xfrm>
            <a:off x="182880" y="1737360"/>
            <a:ext cx="2103120" cy="868680"/>
          </a:xfrm>
          <a:prstGeom prst="rect">
            <a:avLst/>
          </a:prstGeom>
          <a:solidFill>
            <a:srgbClr val="E8D5FF"/>
          </a:solidFill>
          <a:ln w="19050">
            <a:solidFill>
              <a:srgbClr val="8C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874519"/>
            <a:ext cx="2011680" cy="594360"/>
          </a:xfrm>
          <a:prstGeom prst="rect">
            <a:avLst/>
          </a:prstGeom>
          <a:noFill/>
        </p:spPr>
        <p:txBody>
          <a:bodyPr wrap="square">
            <a:spAutoFit/>
          </a:bodyPr>
          <a:lstStyle/>
          <a:p>
            <a:pPr algn="ctr"/>
            <a:r>
              <a:rPr sz="1100" b="1">
                <a:solidFill>
                  <a:srgbClr val="111155"/>
                </a:solidFill>
              </a:rPr>
              <a:t>Route 53</a:t>
            </a:r>
          </a:p>
        </p:txBody>
      </p:sp>
      <p:sp>
        <p:nvSpPr>
          <p:cNvPr id="9" name="TextBox 8"/>
          <p:cNvSpPr txBox="1"/>
          <p:nvPr/>
        </p:nvSpPr>
        <p:spPr>
          <a:xfrm>
            <a:off x="2423160" y="1828800"/>
            <a:ext cx="9555480" cy="731520"/>
          </a:xfrm>
          <a:prstGeom prst="rect">
            <a:avLst/>
          </a:prstGeom>
          <a:noFill/>
        </p:spPr>
        <p:txBody>
          <a:bodyPr wrap="square">
            <a:spAutoFit/>
          </a:bodyPr>
          <a:lstStyle/>
          <a:p>
            <a:pPr algn="l"/>
            <a:r>
              <a:rPr sz="1000" b="0">
                <a:solidFill>
                  <a:srgbClr val="222222"/>
                </a:solidFill>
              </a:rPr>
              <a:t>AWS hosted zone for the WOG domain. Resolves the domain to the CloudFront distribution's domain name so that browser requests reach CloudFront first.</a:t>
            </a:r>
          </a:p>
        </p:txBody>
      </p:sp>
      <p:sp>
        <p:nvSpPr>
          <p:cNvPr id="10" name="Rectangle 9"/>
          <p:cNvSpPr/>
          <p:nvPr/>
        </p:nvSpPr>
        <p:spPr>
          <a:xfrm>
            <a:off x="182880" y="2670048"/>
            <a:ext cx="2103120" cy="868680"/>
          </a:xfrm>
          <a:prstGeom prst="rect">
            <a:avLst/>
          </a:prstGeom>
          <a:solidFill>
            <a:srgbClr val="FFD5EA"/>
          </a:solidFill>
          <a:ln w="19050">
            <a:solidFill>
              <a:srgbClr val="E715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2807208"/>
            <a:ext cx="2011680" cy="594360"/>
          </a:xfrm>
          <a:prstGeom prst="rect">
            <a:avLst/>
          </a:prstGeom>
          <a:noFill/>
        </p:spPr>
        <p:txBody>
          <a:bodyPr wrap="square">
            <a:spAutoFit/>
          </a:bodyPr>
          <a:lstStyle/>
          <a:p>
            <a:pPr algn="ctr"/>
            <a:r>
              <a:rPr sz="1100" b="1">
                <a:solidFill>
                  <a:srgbClr val="111155"/>
                </a:solidFill>
              </a:rPr>
              <a:t>CloudFront Distribution</a:t>
            </a:r>
          </a:p>
        </p:txBody>
      </p:sp>
      <p:sp>
        <p:nvSpPr>
          <p:cNvPr id="12" name="TextBox 11"/>
          <p:cNvSpPr txBox="1"/>
          <p:nvPr/>
        </p:nvSpPr>
        <p:spPr>
          <a:xfrm>
            <a:off x="2423160" y="2761488"/>
            <a:ext cx="9555480" cy="731520"/>
          </a:xfrm>
          <a:prstGeom prst="rect">
            <a:avLst/>
          </a:prstGeom>
          <a:noFill/>
        </p:spPr>
        <p:txBody>
          <a:bodyPr wrap="square">
            <a:spAutoFit/>
          </a:bodyPr>
          <a:lstStyle/>
          <a:p>
            <a:pPr algn="l"/>
            <a:r>
              <a:rPr sz="1000" b="0">
                <a:solidFill>
                  <a:srgbClr val="222222"/>
                </a:solidFill>
              </a:rPr>
              <a:t>Terminates HTTPS from WOG notebook users. Custom origin = Mailpit Elastic IP on port 8025 (HTTP). CloudFront handles TLS, WAF enforcement, and caching (caching should be DISABLED for Mailpit UI).</a:t>
            </a:r>
          </a:p>
        </p:txBody>
      </p:sp>
      <p:sp>
        <p:nvSpPr>
          <p:cNvPr id="13" name="Rectangle 12"/>
          <p:cNvSpPr/>
          <p:nvPr/>
        </p:nvSpPr>
        <p:spPr>
          <a:xfrm>
            <a:off x="182880" y="3602736"/>
            <a:ext cx="2103120" cy="868680"/>
          </a:xfrm>
          <a:prstGeom prst="rect">
            <a:avLst/>
          </a:prstGeom>
          <a:solidFill>
            <a:srgbClr val="FFD5D5"/>
          </a:solidFill>
          <a:ln w="19050">
            <a:solidFill>
              <a:srgbClr val="DD3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3739896"/>
            <a:ext cx="2011680" cy="594360"/>
          </a:xfrm>
          <a:prstGeom prst="rect">
            <a:avLst/>
          </a:prstGeom>
          <a:noFill/>
        </p:spPr>
        <p:txBody>
          <a:bodyPr wrap="square">
            <a:spAutoFit/>
          </a:bodyPr>
          <a:lstStyle/>
          <a:p>
            <a:pPr algn="ctr"/>
            <a:r>
              <a:rPr sz="1100" b="1">
                <a:solidFill>
                  <a:srgbClr val="111155"/>
                </a:solidFill>
              </a:rPr>
              <a:t>AWS WAF (IP Allowlist)</a:t>
            </a:r>
          </a:p>
        </p:txBody>
      </p:sp>
      <p:sp>
        <p:nvSpPr>
          <p:cNvPr id="15" name="TextBox 14"/>
          <p:cNvSpPr txBox="1"/>
          <p:nvPr/>
        </p:nvSpPr>
        <p:spPr>
          <a:xfrm>
            <a:off x="2423160" y="3694176"/>
            <a:ext cx="9555480" cy="731520"/>
          </a:xfrm>
          <a:prstGeom prst="rect">
            <a:avLst/>
          </a:prstGeom>
          <a:noFill/>
        </p:spPr>
        <p:txBody>
          <a:bodyPr wrap="square">
            <a:spAutoFit/>
          </a:bodyPr>
          <a:lstStyle/>
          <a:p>
            <a:pPr algn="l"/>
            <a:r>
              <a:rPr sz="1000" b="0">
                <a:solidFill>
                  <a:srgbClr val="222222"/>
                </a:solidFill>
              </a:rPr>
              <a:t>Attached to the CloudFront distribution. Default action = BLOCK. An ALLOW rule matches an IP set containing the WOG/GSIB internet gateway egress CIDRs — only government staff reach Mailpit.</a:t>
            </a:r>
          </a:p>
        </p:txBody>
      </p:sp>
      <p:sp>
        <p:nvSpPr>
          <p:cNvPr id="16" name="Rectangle 15"/>
          <p:cNvSpPr/>
          <p:nvPr/>
        </p:nvSpPr>
        <p:spPr>
          <a:xfrm>
            <a:off x="182880" y="4535424"/>
            <a:ext cx="2103120" cy="868680"/>
          </a:xfrm>
          <a:prstGeom prst="rect">
            <a:avLst/>
          </a:prstGeom>
          <a:solidFill>
            <a:srgbClr val="E8FFE8"/>
          </a:solidFill>
          <a:ln w="19050">
            <a:solidFill>
              <a:srgbClr val="2488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4672584"/>
            <a:ext cx="2011680" cy="594360"/>
          </a:xfrm>
          <a:prstGeom prst="rect">
            <a:avLst/>
          </a:prstGeom>
          <a:noFill/>
        </p:spPr>
        <p:txBody>
          <a:bodyPr wrap="square">
            <a:spAutoFit/>
          </a:bodyPr>
          <a:lstStyle/>
          <a:p>
            <a:pPr algn="ctr"/>
            <a:r>
              <a:rPr sz="1100" b="1">
                <a:solidFill>
                  <a:srgbClr val="111155"/>
                </a:solidFill>
              </a:rPr>
              <a:t>EC2 Security Group</a:t>
            </a:r>
          </a:p>
        </p:txBody>
      </p:sp>
      <p:sp>
        <p:nvSpPr>
          <p:cNvPr id="18" name="TextBox 17"/>
          <p:cNvSpPr txBox="1"/>
          <p:nvPr/>
        </p:nvSpPr>
        <p:spPr>
          <a:xfrm>
            <a:off x="2423160" y="4626864"/>
            <a:ext cx="9555480" cy="731520"/>
          </a:xfrm>
          <a:prstGeom prst="rect">
            <a:avLst/>
          </a:prstGeom>
          <a:noFill/>
        </p:spPr>
        <p:txBody>
          <a:bodyPr wrap="square">
            <a:spAutoFit/>
          </a:bodyPr>
          <a:lstStyle/>
          <a:p>
            <a:pPr algn="l"/>
            <a:r>
              <a:rPr sz="1000" b="0">
                <a:solidFill>
                  <a:srgbClr val="222222"/>
                </a:solidFill>
              </a:rPr>
              <a:t>Port 8025 inbound: SourcePrefixListId = CloudFront origin-facing managed prefix list (com.amazonaws.global.cloudfront.origin-facing). This ensures ONLY CloudFront can hit the UI — no direct access bypassing WAF. Port 1025: internal CIDR for app servers sending test mail.</a:t>
            </a:r>
          </a:p>
        </p:txBody>
      </p:sp>
      <p:sp>
        <p:nvSpPr>
          <p:cNvPr id="19" name="Rectangle 18"/>
          <p:cNvSpPr/>
          <p:nvPr/>
        </p:nvSpPr>
        <p:spPr>
          <a:xfrm>
            <a:off x="182880" y="5468112"/>
            <a:ext cx="2103120" cy="868680"/>
          </a:xfrm>
          <a:prstGeom prst="rect">
            <a:avLst/>
          </a:prstGeom>
          <a:solidFill>
            <a:srgbClr val="FFF2CC"/>
          </a:solidFill>
          <a:ln w="1905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5605272"/>
            <a:ext cx="2011680" cy="594360"/>
          </a:xfrm>
          <a:prstGeom prst="rect">
            <a:avLst/>
          </a:prstGeom>
          <a:noFill/>
        </p:spPr>
        <p:txBody>
          <a:bodyPr wrap="square">
            <a:spAutoFit/>
          </a:bodyPr>
          <a:lstStyle/>
          <a:p>
            <a:pPr algn="ctr"/>
            <a:r>
              <a:rPr sz="1100" b="1">
                <a:solidFill>
                  <a:srgbClr val="111155"/>
                </a:solidFill>
              </a:rPr>
              <a:t>Firewall Rule</a:t>
            </a:r>
          </a:p>
        </p:txBody>
      </p:sp>
      <p:sp>
        <p:nvSpPr>
          <p:cNvPr id="21" name="TextBox 20"/>
          <p:cNvSpPr txBox="1"/>
          <p:nvPr/>
        </p:nvSpPr>
        <p:spPr>
          <a:xfrm>
            <a:off x="2423160" y="5559551"/>
            <a:ext cx="9555480" cy="731520"/>
          </a:xfrm>
          <a:prstGeom prst="rect">
            <a:avLst/>
          </a:prstGeom>
          <a:noFill/>
        </p:spPr>
        <p:txBody>
          <a:bodyPr wrap="square">
            <a:spAutoFit/>
          </a:bodyPr>
          <a:lstStyle/>
          <a:p>
            <a:pPr algn="l"/>
            <a:r>
              <a:rPr sz="1000" b="0">
                <a:solidFill>
                  <a:srgbClr val="222222"/>
                </a:solidFill>
              </a:rPr>
              <a:t>Allow TCP 443 inbound from CloudFront to the EC2 Elastic IP on port 8025. Because CloudFront uses HTTP to the origin (within AWS), the relevant rule is allowing CloudFront prefix list → EC2 SG port 8025.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11795760" cy="548640"/>
          </a:xfrm>
          <a:prstGeom prst="rect">
            <a:avLst/>
          </a:prstGeom>
          <a:noFill/>
        </p:spPr>
        <p:txBody>
          <a:bodyPr wrap="square">
            <a:spAutoFit/>
          </a:bodyPr>
          <a:lstStyle/>
          <a:p>
            <a:pPr algn="l"/>
            <a:r>
              <a:rPr sz="1800" b="1">
                <a:solidFill>
                  <a:srgbClr val="FFFFFF"/>
                </a:solidFill>
              </a:rPr>
              <a:t>Intranet IP Allowlist — AWS WAF Configuration</a:t>
            </a:r>
          </a:p>
        </p:txBody>
      </p:sp>
      <p:sp>
        <p:nvSpPr>
          <p:cNvPr id="4" name="TextBox 3"/>
          <p:cNvSpPr txBox="1"/>
          <p:nvPr/>
        </p:nvSpPr>
        <p:spPr>
          <a:xfrm>
            <a:off x="274320" y="822960"/>
            <a:ext cx="11612880" cy="365760"/>
          </a:xfrm>
          <a:prstGeom prst="rect">
            <a:avLst/>
          </a:prstGeom>
          <a:noFill/>
        </p:spPr>
        <p:txBody>
          <a:bodyPr wrap="square">
            <a:spAutoFit/>
          </a:bodyPr>
          <a:lstStyle/>
          <a:p>
            <a:pPr algn="l"/>
            <a:r>
              <a:rPr sz="1300" b="1">
                <a:solidFill>
                  <a:srgbClr val="1F497D"/>
                </a:solidFill>
              </a:rPr>
              <a:t>Q: Can we list specific IP ranges used by intranet users?</a:t>
            </a:r>
          </a:p>
        </p:txBody>
      </p:sp>
      <p:sp>
        <p:nvSpPr>
          <p:cNvPr id="5" name="TextBox 4"/>
          <p:cNvSpPr txBox="1"/>
          <p:nvPr/>
        </p:nvSpPr>
        <p:spPr>
          <a:xfrm>
            <a:off x="274320" y="1234440"/>
            <a:ext cx="11612880" cy="347472"/>
          </a:xfrm>
          <a:prstGeom prst="rect">
            <a:avLst/>
          </a:prstGeom>
          <a:noFill/>
        </p:spPr>
        <p:txBody>
          <a:bodyPr wrap="square">
            <a:spAutoFit/>
          </a:bodyPr>
          <a:lstStyle/>
          <a:p>
            <a:pPr algn="l"/>
            <a:r>
              <a:rPr sz="1200" b="1">
                <a:solidFill>
                  <a:srgbClr val="248814"/>
                </a:solidFill>
              </a:rPr>
              <a:t>Yes — this is the recommended approach.</a:t>
            </a:r>
          </a:p>
        </p:txBody>
      </p:sp>
      <p:sp>
        <p:nvSpPr>
          <p:cNvPr id="6" name="TextBox 5"/>
          <p:cNvSpPr txBox="1"/>
          <p:nvPr/>
        </p:nvSpPr>
        <p:spPr>
          <a:xfrm>
            <a:off x="274320" y="1627632"/>
            <a:ext cx="11612880" cy="594360"/>
          </a:xfrm>
          <a:prstGeom prst="rect">
            <a:avLst/>
          </a:prstGeom>
          <a:noFill/>
        </p:spPr>
        <p:txBody>
          <a:bodyPr wrap="square">
            <a:spAutoFit/>
          </a:bodyPr>
          <a:lstStyle/>
          <a:p>
            <a:pPr algn="l"/>
            <a:r>
              <a:rPr sz="1100" b="0">
                <a:solidFill>
                  <a:srgbClr val="222222"/>
                </a:solidFill>
              </a:rPr>
              <a:t>Intranet staff on GSIB/WOG notebooks browse the internet through the government's central internet gateway (SGWAN). Their traffic appears at CloudFront with the public egress IPs of that gateway, not individual device IPs. Add those gateway CIDRs to the WAF IP set.</a:t>
            </a:r>
          </a:p>
        </p:txBody>
      </p:sp>
      <p:sp>
        <p:nvSpPr>
          <p:cNvPr id="7" name="TextBox 6"/>
          <p:cNvSpPr txBox="1"/>
          <p:nvPr/>
        </p:nvSpPr>
        <p:spPr>
          <a:xfrm>
            <a:off x="274320" y="2331720"/>
            <a:ext cx="11612880" cy="292608"/>
          </a:xfrm>
          <a:prstGeom prst="rect">
            <a:avLst/>
          </a:prstGeom>
          <a:noFill/>
        </p:spPr>
        <p:txBody>
          <a:bodyPr wrap="square">
            <a:spAutoFit/>
          </a:bodyPr>
          <a:lstStyle/>
          <a:p>
            <a:pPr algn="l"/>
            <a:r>
              <a:rPr sz="1200" b="1">
                <a:solidFill>
                  <a:srgbClr val="1F497D"/>
                </a:solidFill>
              </a:rPr>
              <a:t>Configuration steps:</a:t>
            </a:r>
          </a:p>
        </p:txBody>
      </p:sp>
      <p:sp>
        <p:nvSpPr>
          <p:cNvPr id="8" name="Rectangle 7"/>
          <p:cNvSpPr/>
          <p:nvPr/>
        </p:nvSpPr>
        <p:spPr>
          <a:xfrm>
            <a:off x="274320" y="2697480"/>
            <a:ext cx="2286000" cy="68580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834640"/>
            <a:ext cx="2194560" cy="438912"/>
          </a:xfrm>
          <a:prstGeom prst="rect">
            <a:avLst/>
          </a:prstGeom>
          <a:noFill/>
        </p:spPr>
        <p:txBody>
          <a:bodyPr wrap="square">
            <a:spAutoFit/>
          </a:bodyPr>
          <a:lstStyle/>
          <a:p>
            <a:pPr algn="ctr"/>
            <a:r>
              <a:rPr sz="1000" b="1">
                <a:solidFill>
                  <a:srgbClr val="1F497D"/>
                </a:solidFill>
              </a:rPr>
              <a:t>Step 1 — Get CIDRs</a:t>
            </a:r>
          </a:p>
        </p:txBody>
      </p:sp>
      <p:sp>
        <p:nvSpPr>
          <p:cNvPr id="10" name="TextBox 9"/>
          <p:cNvSpPr txBox="1"/>
          <p:nvPr/>
        </p:nvSpPr>
        <p:spPr>
          <a:xfrm>
            <a:off x="2697480" y="2770632"/>
            <a:ext cx="9189720" cy="603504"/>
          </a:xfrm>
          <a:prstGeom prst="rect">
            <a:avLst/>
          </a:prstGeom>
          <a:noFill/>
        </p:spPr>
        <p:txBody>
          <a:bodyPr wrap="square">
            <a:spAutoFit/>
          </a:bodyPr>
          <a:lstStyle/>
          <a:p>
            <a:pPr algn="l"/>
            <a:r>
              <a:rPr sz="950" b="0">
                <a:solidFill>
                  <a:srgbClr val="222222"/>
                </a:solidFill>
              </a:rPr>
              <a:t>Ask your GovTech / ITAS / SGWAN network team for the public egress IP ranges (CIDRs) of the WOG internet gateway.</a:t>
            </a:r>
          </a:p>
        </p:txBody>
      </p:sp>
      <p:sp>
        <p:nvSpPr>
          <p:cNvPr id="11" name="Rectangle 10"/>
          <p:cNvSpPr/>
          <p:nvPr/>
        </p:nvSpPr>
        <p:spPr>
          <a:xfrm>
            <a:off x="274320" y="3456432"/>
            <a:ext cx="2286000" cy="68580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593592"/>
            <a:ext cx="2194560" cy="438912"/>
          </a:xfrm>
          <a:prstGeom prst="rect">
            <a:avLst/>
          </a:prstGeom>
          <a:noFill/>
        </p:spPr>
        <p:txBody>
          <a:bodyPr wrap="square">
            <a:spAutoFit/>
          </a:bodyPr>
          <a:lstStyle/>
          <a:p>
            <a:pPr algn="ctr"/>
            <a:r>
              <a:rPr sz="1000" b="1">
                <a:solidFill>
                  <a:srgbClr val="1F497D"/>
                </a:solidFill>
              </a:rPr>
              <a:t>Step 2 — WAF IP Set</a:t>
            </a:r>
          </a:p>
        </p:txBody>
      </p:sp>
      <p:sp>
        <p:nvSpPr>
          <p:cNvPr id="13" name="TextBox 12"/>
          <p:cNvSpPr txBox="1"/>
          <p:nvPr/>
        </p:nvSpPr>
        <p:spPr>
          <a:xfrm>
            <a:off x="2697480" y="3529584"/>
            <a:ext cx="9189720" cy="603504"/>
          </a:xfrm>
          <a:prstGeom prst="rect">
            <a:avLst/>
          </a:prstGeom>
          <a:noFill/>
        </p:spPr>
        <p:txBody>
          <a:bodyPr wrap="square">
            <a:spAutoFit/>
          </a:bodyPr>
          <a:lstStyle/>
          <a:p>
            <a:pPr algn="l"/>
            <a:r>
              <a:rPr sz="950" b="0">
                <a:solidFill>
                  <a:srgbClr val="222222"/>
                </a:solidFill>
              </a:rPr>
              <a:t>Create an AWS WAF IP set (IPv4, scope CLOUDFRONT, us-east-1) with those CIDRs.
    aws wafv2 create-ip-set --scope CLOUDFRONT --region us-east-1 --name mailpit-intranet-ips --ip-address-version IPV4 --addresses &lt;CIDR1&gt; &lt;CIDR2&gt;</a:t>
            </a:r>
          </a:p>
        </p:txBody>
      </p:sp>
      <p:sp>
        <p:nvSpPr>
          <p:cNvPr id="14" name="Rectangle 13"/>
          <p:cNvSpPr/>
          <p:nvPr/>
        </p:nvSpPr>
        <p:spPr>
          <a:xfrm>
            <a:off x="274320" y="4215384"/>
            <a:ext cx="2286000" cy="68580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4352544"/>
            <a:ext cx="2194560" cy="438912"/>
          </a:xfrm>
          <a:prstGeom prst="rect">
            <a:avLst/>
          </a:prstGeom>
          <a:noFill/>
        </p:spPr>
        <p:txBody>
          <a:bodyPr wrap="square">
            <a:spAutoFit/>
          </a:bodyPr>
          <a:lstStyle/>
          <a:p>
            <a:pPr algn="ctr"/>
            <a:r>
              <a:rPr sz="1000" b="1">
                <a:solidFill>
                  <a:srgbClr val="1F497D"/>
                </a:solidFill>
              </a:rPr>
              <a:t>Step 3 — WAF WebACL</a:t>
            </a:r>
          </a:p>
        </p:txBody>
      </p:sp>
      <p:sp>
        <p:nvSpPr>
          <p:cNvPr id="16" name="TextBox 15"/>
          <p:cNvSpPr txBox="1"/>
          <p:nvPr/>
        </p:nvSpPr>
        <p:spPr>
          <a:xfrm>
            <a:off x="2697480" y="4288536"/>
            <a:ext cx="9189720" cy="603504"/>
          </a:xfrm>
          <a:prstGeom prst="rect">
            <a:avLst/>
          </a:prstGeom>
          <a:noFill/>
        </p:spPr>
        <p:txBody>
          <a:bodyPr wrap="square">
            <a:spAutoFit/>
          </a:bodyPr>
          <a:lstStyle/>
          <a:p>
            <a:pPr algn="l"/>
            <a:r>
              <a:rPr sz="950" b="0">
                <a:solidFill>
                  <a:srgbClr val="222222"/>
                </a:solidFill>
              </a:rPr>
              <a:t>Create/update a WAF WebACL (CLOUDFRONT scope): default action = BLOCK, add an ALLOW rule matching the IP set above.</a:t>
            </a:r>
          </a:p>
        </p:txBody>
      </p:sp>
      <p:sp>
        <p:nvSpPr>
          <p:cNvPr id="17" name="Rectangle 16"/>
          <p:cNvSpPr/>
          <p:nvPr/>
        </p:nvSpPr>
        <p:spPr>
          <a:xfrm>
            <a:off x="274320" y="4974336"/>
            <a:ext cx="2286000" cy="68580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5111496"/>
            <a:ext cx="2194560" cy="438912"/>
          </a:xfrm>
          <a:prstGeom prst="rect">
            <a:avLst/>
          </a:prstGeom>
          <a:noFill/>
        </p:spPr>
        <p:txBody>
          <a:bodyPr wrap="square">
            <a:spAutoFit/>
          </a:bodyPr>
          <a:lstStyle/>
          <a:p>
            <a:pPr algn="ctr"/>
            <a:r>
              <a:rPr sz="1000" b="1">
                <a:solidFill>
                  <a:srgbClr val="1F497D"/>
                </a:solidFill>
              </a:rPr>
              <a:t>Step 4 — Attach to CloudFront</a:t>
            </a:r>
          </a:p>
        </p:txBody>
      </p:sp>
      <p:sp>
        <p:nvSpPr>
          <p:cNvPr id="19" name="TextBox 18"/>
          <p:cNvSpPr txBox="1"/>
          <p:nvPr/>
        </p:nvSpPr>
        <p:spPr>
          <a:xfrm>
            <a:off x="2697480" y="5047488"/>
            <a:ext cx="9189720" cy="603504"/>
          </a:xfrm>
          <a:prstGeom prst="rect">
            <a:avLst/>
          </a:prstGeom>
          <a:noFill/>
        </p:spPr>
        <p:txBody>
          <a:bodyPr wrap="square">
            <a:spAutoFit/>
          </a:bodyPr>
          <a:lstStyle/>
          <a:p>
            <a:pPr algn="l"/>
            <a:r>
              <a:rPr sz="950" b="0">
                <a:solidFill>
                  <a:srgbClr val="222222"/>
                </a:solidFill>
              </a:rPr>
              <a:t>Associate the WebACL with the Mailpit CloudFront distribution via the CloudFront console or CLI.</a:t>
            </a:r>
          </a:p>
        </p:txBody>
      </p:sp>
      <p:sp>
        <p:nvSpPr>
          <p:cNvPr id="20" name="Rectangle 19"/>
          <p:cNvSpPr/>
          <p:nvPr/>
        </p:nvSpPr>
        <p:spPr>
          <a:xfrm>
            <a:off x="274320" y="5733288"/>
            <a:ext cx="2286000" cy="685800"/>
          </a:xfrm>
          <a:prstGeom prst="rect">
            <a:avLst/>
          </a:prstGeom>
          <a:solidFill>
            <a:srgbClr val="DAE8FC"/>
          </a:solidFill>
          <a:ln w="1905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5870448"/>
            <a:ext cx="2194560" cy="438912"/>
          </a:xfrm>
          <a:prstGeom prst="rect">
            <a:avLst/>
          </a:prstGeom>
          <a:noFill/>
        </p:spPr>
        <p:txBody>
          <a:bodyPr wrap="square">
            <a:spAutoFit/>
          </a:bodyPr>
          <a:lstStyle/>
          <a:p>
            <a:pPr algn="ctr"/>
            <a:r>
              <a:rPr sz="1000" b="1">
                <a:solidFill>
                  <a:srgbClr val="1F497D"/>
                </a:solidFill>
              </a:rPr>
              <a:t>Step 5 — Test</a:t>
            </a:r>
          </a:p>
        </p:txBody>
      </p:sp>
      <p:sp>
        <p:nvSpPr>
          <p:cNvPr id="22" name="TextBox 21"/>
          <p:cNvSpPr txBox="1"/>
          <p:nvPr/>
        </p:nvSpPr>
        <p:spPr>
          <a:xfrm>
            <a:off x="2697480" y="5806440"/>
            <a:ext cx="9189720" cy="603504"/>
          </a:xfrm>
          <a:prstGeom prst="rect">
            <a:avLst/>
          </a:prstGeom>
          <a:noFill/>
        </p:spPr>
        <p:txBody>
          <a:bodyPr wrap="square">
            <a:spAutoFit/>
          </a:bodyPr>
          <a:lstStyle/>
          <a:p>
            <a:pPr algn="l"/>
            <a:r>
              <a:rPr sz="950" b="0">
                <a:solidFill>
                  <a:srgbClr val="222222"/>
                </a:solidFill>
              </a:rPr>
              <a:t>From a GSIB device: should reach mailpit.xxx.gov.sg.  From a non-WOG IP: should receive HTTP 403 Forbidden.</a:t>
            </a:r>
          </a:p>
        </p:txBody>
      </p:sp>
      <p:sp>
        <p:nvSpPr>
          <p:cNvPr id="23" name="TextBox 22"/>
          <p:cNvSpPr txBox="1"/>
          <p:nvPr/>
        </p:nvSpPr>
        <p:spPr>
          <a:xfrm>
            <a:off x="274320" y="6400800"/>
            <a:ext cx="11612880" cy="320040"/>
          </a:xfrm>
          <a:prstGeom prst="rect">
            <a:avLst/>
          </a:prstGeom>
          <a:solidFill>
            <a:srgbClr val="FFF0E0"/>
          </a:solidFill>
        </p:spPr>
        <p:txBody>
          <a:bodyPr wrap="square">
            <a:spAutoFit/>
          </a:bodyPr>
          <a:lstStyle/>
          <a:p>
            <a:pPr algn="l"/>
            <a:r>
              <a:rPr sz="1000" b="0">
                <a:solidFill>
                  <a:srgbClr val="992200"/>
                </a:solidFill>
              </a:rPr>
              <a:t>Do NOT use 0.0.0.0/0 — Mailpit captures test emails that may contain sensitive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11795760" cy="548640"/>
          </a:xfrm>
          <a:prstGeom prst="rect">
            <a:avLst/>
          </a:prstGeom>
          <a:noFill/>
        </p:spPr>
        <p:txBody>
          <a:bodyPr wrap="square">
            <a:spAutoFit/>
          </a:bodyPr>
          <a:lstStyle/>
          <a:p>
            <a:pPr algn="l"/>
            <a:r>
              <a:rPr sz="1800" b="1">
                <a:solidFill>
                  <a:srgbClr val="FFFFFF"/>
                </a:solidFill>
              </a:rPr>
              <a:t>Changes Summary (v6 vs v5)</a:t>
            </a:r>
          </a:p>
        </p:txBody>
      </p:sp>
      <p:sp>
        <p:nvSpPr>
          <p:cNvPr id="4" name="TextBox 3"/>
          <p:cNvSpPr txBox="1"/>
          <p:nvPr/>
        </p:nvSpPr>
        <p:spPr>
          <a:xfrm>
            <a:off x="274320" y="804672"/>
            <a:ext cx="11612880" cy="347472"/>
          </a:xfrm>
          <a:prstGeom prst="rect">
            <a:avLst/>
          </a:prstGeom>
          <a:noFill/>
        </p:spPr>
        <p:txBody>
          <a:bodyPr wrap="square">
            <a:spAutoFit/>
          </a:bodyPr>
          <a:lstStyle/>
          <a:p>
            <a:pPr algn="l"/>
            <a:r>
              <a:rPr sz="1200" b="1">
                <a:solidFill>
                  <a:srgbClr val="1F497D"/>
                </a:solidFill>
              </a:rPr>
              <a:t>What changed from v5 → v6:</a:t>
            </a:r>
          </a:p>
        </p:txBody>
      </p:sp>
      <p:sp>
        <p:nvSpPr>
          <p:cNvPr id="5" name="Rectangle 4"/>
          <p:cNvSpPr/>
          <p:nvPr/>
        </p:nvSpPr>
        <p:spPr>
          <a:xfrm>
            <a:off x="274320" y="1234440"/>
            <a:ext cx="1097280" cy="594360"/>
          </a:xfrm>
          <a:prstGeom prst="rect">
            <a:avLst/>
          </a:prstGeom>
          <a:solidFill>
            <a:srgbClr val="DD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325880"/>
            <a:ext cx="1097280" cy="411480"/>
          </a:xfrm>
          <a:prstGeom prst="rect">
            <a:avLst/>
          </a:prstGeom>
          <a:noFill/>
        </p:spPr>
        <p:txBody>
          <a:bodyPr wrap="square">
            <a:spAutoFit/>
          </a:bodyPr>
          <a:lstStyle/>
          <a:p>
            <a:pPr algn="ctr"/>
            <a:r>
              <a:rPr sz="1100" b="1">
                <a:solidFill>
                  <a:srgbClr val="FFFFFF"/>
                </a:solidFill>
              </a:rPr>
              <a:t>REMOVED</a:t>
            </a:r>
          </a:p>
        </p:txBody>
      </p:sp>
      <p:sp>
        <p:nvSpPr>
          <p:cNvPr id="7" name="TextBox 6"/>
          <p:cNvSpPr txBox="1"/>
          <p:nvPr/>
        </p:nvSpPr>
        <p:spPr>
          <a:xfrm>
            <a:off x="1508760" y="1325880"/>
            <a:ext cx="10424160" cy="502920"/>
          </a:xfrm>
          <a:prstGeom prst="rect">
            <a:avLst/>
          </a:prstGeom>
          <a:noFill/>
        </p:spPr>
        <p:txBody>
          <a:bodyPr wrap="square">
            <a:spAutoFit/>
          </a:bodyPr>
          <a:lstStyle/>
          <a:p>
            <a:pPr algn="l"/>
            <a:r>
              <a:rPr sz="1050" b="0">
                <a:solidFill>
                  <a:srgbClr val="222222"/>
                </a:solidFill>
              </a:rPr>
              <a:t>Mailpit ALB — not needed; CloudFront supports direct EC2 custom origin</a:t>
            </a:r>
          </a:p>
        </p:txBody>
      </p:sp>
      <p:sp>
        <p:nvSpPr>
          <p:cNvPr id="8" name="Rectangle 7"/>
          <p:cNvSpPr/>
          <p:nvPr/>
        </p:nvSpPr>
        <p:spPr>
          <a:xfrm>
            <a:off x="274320" y="1993392"/>
            <a:ext cx="1097280" cy="594360"/>
          </a:xfrm>
          <a:prstGeom prst="rect">
            <a:avLst/>
          </a:prstGeom>
          <a:solidFill>
            <a:srgbClr val="DD3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2084832"/>
            <a:ext cx="1097280" cy="411480"/>
          </a:xfrm>
          <a:prstGeom prst="rect">
            <a:avLst/>
          </a:prstGeom>
          <a:noFill/>
        </p:spPr>
        <p:txBody>
          <a:bodyPr wrap="square">
            <a:spAutoFit/>
          </a:bodyPr>
          <a:lstStyle/>
          <a:p>
            <a:pPr algn="ctr"/>
            <a:r>
              <a:rPr sz="1100" b="1">
                <a:solidFill>
                  <a:srgbClr val="FFFFFF"/>
                </a:solidFill>
              </a:rPr>
              <a:t>REMOVED</a:t>
            </a:r>
          </a:p>
        </p:txBody>
      </p:sp>
      <p:sp>
        <p:nvSpPr>
          <p:cNvPr id="10" name="TextBox 9"/>
          <p:cNvSpPr txBox="1"/>
          <p:nvPr/>
        </p:nvSpPr>
        <p:spPr>
          <a:xfrm>
            <a:off x="1508760" y="2084832"/>
            <a:ext cx="10424160" cy="502920"/>
          </a:xfrm>
          <a:prstGeom prst="rect">
            <a:avLst/>
          </a:prstGeom>
          <a:noFill/>
        </p:spPr>
        <p:txBody>
          <a:bodyPr wrap="square">
            <a:spAutoFit/>
          </a:bodyPr>
          <a:lstStyle/>
          <a:p>
            <a:pPr algn="l"/>
            <a:r>
              <a:rPr sz="1050" b="0">
                <a:solidFill>
                  <a:srgbClr val="222222"/>
                </a:solidFill>
              </a:rPr>
              <a:t>ALB → EC2 edge and ALB security group rule</a:t>
            </a:r>
          </a:p>
        </p:txBody>
      </p:sp>
      <p:sp>
        <p:nvSpPr>
          <p:cNvPr id="11" name="Rectangle 10"/>
          <p:cNvSpPr/>
          <p:nvPr/>
        </p:nvSpPr>
        <p:spPr>
          <a:xfrm>
            <a:off x="274320" y="2752344"/>
            <a:ext cx="1097280" cy="594360"/>
          </a:xfrm>
          <a:prstGeom prst="rect">
            <a:avLst/>
          </a:prstGeom>
          <a:solidFill>
            <a:srgbClr val="D86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843784"/>
            <a:ext cx="1097280" cy="411480"/>
          </a:xfrm>
          <a:prstGeom prst="rect">
            <a:avLst/>
          </a:prstGeom>
          <a:noFill/>
        </p:spPr>
        <p:txBody>
          <a:bodyPr wrap="square">
            <a:spAutoFit/>
          </a:bodyPr>
          <a:lstStyle/>
          <a:p>
            <a:pPr algn="ctr"/>
            <a:r>
              <a:rPr sz="1100" b="1">
                <a:solidFill>
                  <a:srgbClr val="FFFFFF"/>
                </a:solidFill>
              </a:rPr>
              <a:t>UPDATED</a:t>
            </a:r>
          </a:p>
        </p:txBody>
      </p:sp>
      <p:sp>
        <p:nvSpPr>
          <p:cNvPr id="13" name="TextBox 12"/>
          <p:cNvSpPr txBox="1"/>
          <p:nvPr/>
        </p:nvSpPr>
        <p:spPr>
          <a:xfrm>
            <a:off x="1508760" y="2843784"/>
            <a:ext cx="10424160" cy="502920"/>
          </a:xfrm>
          <a:prstGeom prst="rect">
            <a:avLst/>
          </a:prstGeom>
          <a:noFill/>
        </p:spPr>
        <p:txBody>
          <a:bodyPr wrap="square">
            <a:spAutoFit/>
          </a:bodyPr>
          <a:lstStyle/>
          <a:p>
            <a:pPr algn="l"/>
            <a:r>
              <a:rPr sz="1050" b="0">
                <a:solidFill>
                  <a:srgbClr val="222222"/>
                </a:solidFill>
              </a:rPr>
              <a:t>CloudFront now wired directly to Mailpit EC2 Elastic IP (port 8025)</a:t>
            </a:r>
          </a:p>
        </p:txBody>
      </p:sp>
      <p:sp>
        <p:nvSpPr>
          <p:cNvPr id="14" name="Rectangle 13"/>
          <p:cNvSpPr/>
          <p:nvPr/>
        </p:nvSpPr>
        <p:spPr>
          <a:xfrm>
            <a:off x="274320" y="3511296"/>
            <a:ext cx="1097280" cy="594360"/>
          </a:xfrm>
          <a:prstGeom prst="rect">
            <a:avLst/>
          </a:prstGeom>
          <a:solidFill>
            <a:srgbClr val="D86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3602736"/>
            <a:ext cx="1097280" cy="411480"/>
          </a:xfrm>
          <a:prstGeom prst="rect">
            <a:avLst/>
          </a:prstGeom>
          <a:noFill/>
        </p:spPr>
        <p:txBody>
          <a:bodyPr wrap="square">
            <a:spAutoFit/>
          </a:bodyPr>
          <a:lstStyle/>
          <a:p>
            <a:pPr algn="ctr"/>
            <a:r>
              <a:rPr sz="1100" b="1">
                <a:solidFill>
                  <a:srgbClr val="FFFFFF"/>
                </a:solidFill>
              </a:rPr>
              <a:t>UPDATED</a:t>
            </a:r>
          </a:p>
        </p:txBody>
      </p:sp>
      <p:sp>
        <p:nvSpPr>
          <p:cNvPr id="16" name="TextBox 15"/>
          <p:cNvSpPr txBox="1"/>
          <p:nvPr/>
        </p:nvSpPr>
        <p:spPr>
          <a:xfrm>
            <a:off x="1508760" y="3602736"/>
            <a:ext cx="10424160" cy="502920"/>
          </a:xfrm>
          <a:prstGeom prst="rect">
            <a:avLst/>
          </a:prstGeom>
          <a:noFill/>
        </p:spPr>
        <p:txBody>
          <a:bodyPr wrap="square">
            <a:spAutoFit/>
          </a:bodyPr>
          <a:lstStyle/>
          <a:p>
            <a:pPr algn="l"/>
            <a:r>
              <a:rPr sz="1050" b="0">
                <a:solidFill>
                  <a:srgbClr val="222222"/>
                </a:solidFill>
              </a:rPr>
              <a:t>CloudFormation template: replaced AllowedCidr for port 8025 with CloudFront managed prefix list (SourcePrefixListId) — prevents bypassing WAF via direct IP access</a:t>
            </a:r>
          </a:p>
        </p:txBody>
      </p:sp>
      <p:sp>
        <p:nvSpPr>
          <p:cNvPr id="17" name="Rectangle 16"/>
          <p:cNvSpPr/>
          <p:nvPr/>
        </p:nvSpPr>
        <p:spPr>
          <a:xfrm>
            <a:off x="274320" y="4270248"/>
            <a:ext cx="1097280" cy="594360"/>
          </a:xfrm>
          <a:prstGeom prst="rect">
            <a:avLst/>
          </a:prstGeom>
          <a:solidFill>
            <a:srgbClr val="D86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361688"/>
            <a:ext cx="1097280" cy="411480"/>
          </a:xfrm>
          <a:prstGeom prst="rect">
            <a:avLst/>
          </a:prstGeom>
          <a:noFill/>
        </p:spPr>
        <p:txBody>
          <a:bodyPr wrap="square">
            <a:spAutoFit/>
          </a:bodyPr>
          <a:lstStyle/>
          <a:p>
            <a:pPr algn="ctr"/>
            <a:r>
              <a:rPr sz="1100" b="1">
                <a:solidFill>
                  <a:srgbClr val="FFFFFF"/>
                </a:solidFill>
              </a:rPr>
              <a:t>UPDATED</a:t>
            </a:r>
          </a:p>
        </p:txBody>
      </p:sp>
      <p:sp>
        <p:nvSpPr>
          <p:cNvPr id="19" name="TextBox 18"/>
          <p:cNvSpPr txBox="1"/>
          <p:nvPr/>
        </p:nvSpPr>
        <p:spPr>
          <a:xfrm>
            <a:off x="1508760" y="4361688"/>
            <a:ext cx="10424160" cy="502920"/>
          </a:xfrm>
          <a:prstGeom prst="rect">
            <a:avLst/>
          </a:prstGeom>
          <a:noFill/>
        </p:spPr>
        <p:txBody>
          <a:bodyPr wrap="square">
            <a:spAutoFit/>
          </a:bodyPr>
          <a:lstStyle/>
          <a:p>
            <a:pPr algn="l"/>
            <a:r>
              <a:rPr sz="1050" b="0">
                <a:solidFill>
                  <a:srgbClr val="222222"/>
                </a:solidFill>
              </a:rPr>
              <a:t>Firewall rule note: CloudFront prefix list → EC2:8025 (no ALB hop)</a:t>
            </a:r>
          </a:p>
        </p:txBody>
      </p:sp>
      <p:sp>
        <p:nvSpPr>
          <p:cNvPr id="20" name="Rectangle 19"/>
          <p:cNvSpPr/>
          <p:nvPr/>
        </p:nvSpPr>
        <p:spPr>
          <a:xfrm>
            <a:off x="274320" y="5029200"/>
            <a:ext cx="1097280" cy="594360"/>
          </a:xfrm>
          <a:prstGeom prst="rect">
            <a:avLst/>
          </a:prstGeom>
          <a:solidFill>
            <a:srgbClr val="248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5120640"/>
            <a:ext cx="1097280" cy="411480"/>
          </a:xfrm>
          <a:prstGeom prst="rect">
            <a:avLst/>
          </a:prstGeom>
          <a:noFill/>
        </p:spPr>
        <p:txBody>
          <a:bodyPr wrap="square">
            <a:spAutoFit/>
          </a:bodyPr>
          <a:lstStyle/>
          <a:p>
            <a:pPr algn="ctr"/>
            <a:r>
              <a:rPr sz="1100" b="1">
                <a:solidFill>
                  <a:srgbClr val="FFFFFF"/>
                </a:solidFill>
              </a:rPr>
              <a:t>ADDED</a:t>
            </a:r>
          </a:p>
        </p:txBody>
      </p:sp>
      <p:sp>
        <p:nvSpPr>
          <p:cNvPr id="22" name="TextBox 21"/>
          <p:cNvSpPr txBox="1"/>
          <p:nvPr/>
        </p:nvSpPr>
        <p:spPr>
          <a:xfrm>
            <a:off x="1508760" y="5120640"/>
            <a:ext cx="10424160" cy="502920"/>
          </a:xfrm>
          <a:prstGeom prst="rect">
            <a:avLst/>
          </a:prstGeom>
          <a:noFill/>
        </p:spPr>
        <p:txBody>
          <a:bodyPr wrap="square">
            <a:spAutoFit/>
          </a:bodyPr>
          <a:lstStyle/>
          <a:p>
            <a:pPr algn="l"/>
            <a:r>
              <a:rPr sz="1050" b="0">
                <a:solidFill>
                  <a:srgbClr val="222222"/>
                </a:solidFill>
              </a:rPr>
              <a:t>EC2 Security Group explanation (port 8025 = CloudFront prefix list only; port 1025 = internal CIDR for app servers)</a:t>
            </a:r>
          </a:p>
        </p:txBody>
      </p:sp>
      <p:sp>
        <p:nvSpPr>
          <p:cNvPr id="23" name="TextBox 22"/>
          <p:cNvSpPr txBox="1"/>
          <p:nvPr/>
        </p:nvSpPr>
        <p:spPr>
          <a:xfrm>
            <a:off x="274320" y="6035040"/>
            <a:ext cx="11612880" cy="502920"/>
          </a:xfrm>
          <a:prstGeom prst="rect">
            <a:avLst/>
          </a:prstGeom>
          <a:noFill/>
        </p:spPr>
        <p:txBody>
          <a:bodyPr wrap="square">
            <a:spAutoFit/>
          </a:bodyPr>
          <a:lstStyle/>
          <a:p>
            <a:pPr algn="l"/>
            <a:r>
              <a:rPr sz="1100" b="1">
                <a:solidFill>
                  <a:srgbClr val="1F497D"/>
                </a:solidFill>
              </a:rPr>
              <a:t>Result: simpler architecture, ~$25/month cheaper (no ALB), same security posture via WAF + SG prefix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