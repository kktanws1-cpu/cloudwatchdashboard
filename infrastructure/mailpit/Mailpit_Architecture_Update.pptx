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036015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</a:rPr>
              <a:t>Mailpit on AWS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606040"/>
            <a:ext cx="103601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AACCFF"/>
                </a:solidFill>
              </a:rPr>
              <a:t>Internet Access Architecture — Shared WAF WebACL (v7)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394960"/>
            <a:ext cx="103601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88AACC"/>
                </a:solidFill>
              </a:rPr>
              <a:t>UAT  |  ap-southeast-1  |  CloudFront → EC2 (direct, no ALB)  |  Reuse existing WAF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" y="73152"/>
            <a:ext cx="11795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</a:rPr>
              <a:t>Architecture Flow — Shared WAF, CloudFront Direct to EC2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" y="914400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0000"/>
                </a:solidFill>
              </a:rPr>
              <a:t>INTERNET ZONE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914400"/>
            <a:ext cx="3474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248814"/>
                </a:solidFill>
              </a:rPr>
              <a:t>INTRANET ZONE / APP TIER</a:t>
            </a:r>
          </a:p>
        </p:txBody>
      </p:sp>
      <p:sp>
        <p:nvSpPr>
          <p:cNvPr id="6" name="Rectangle 5"/>
          <p:cNvSpPr/>
          <p:nvPr/>
        </p:nvSpPr>
        <p:spPr>
          <a:xfrm>
            <a:off x="137160" y="1280160"/>
            <a:ext cx="1737360" cy="1005840"/>
          </a:xfrm>
          <a:prstGeom prst="rect">
            <a:avLst/>
          </a:prstGeom>
          <a:solidFill>
            <a:srgbClr val="F5F5F5"/>
          </a:solidFill>
          <a:ln w="19050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2880" y="1371600"/>
            <a:ext cx="164591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>
                <a:solidFill>
                  <a:srgbClr val="222222"/>
                </a:solidFill>
              </a:rPr>
              <a:t>(1) GSIB / WOG
Notebook</a:t>
            </a:r>
          </a:p>
        </p:txBody>
      </p:sp>
      <p:sp>
        <p:nvSpPr>
          <p:cNvPr id="8" name="Rectangle 7"/>
          <p:cNvSpPr/>
          <p:nvPr/>
        </p:nvSpPr>
        <p:spPr>
          <a:xfrm>
            <a:off x="2057400" y="1280160"/>
            <a:ext cx="1737360" cy="1005840"/>
          </a:xfrm>
          <a:prstGeom prst="rect">
            <a:avLst/>
          </a:prstGeom>
          <a:solidFill>
            <a:srgbClr val="DAE8FC"/>
          </a:solidFill>
          <a:ln w="19050">
            <a:solidFill>
              <a:srgbClr val="6C8E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103120" y="1371600"/>
            <a:ext cx="164591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>
                <a:solidFill>
                  <a:srgbClr val="222222"/>
                </a:solidFill>
              </a:rPr>
              <a:t>(2) WOG Domain
mailpit.xxx.gov.sg</a:t>
            </a:r>
          </a:p>
        </p:txBody>
      </p:sp>
      <p:sp>
        <p:nvSpPr>
          <p:cNvPr id="10" name="Rectangle 9"/>
          <p:cNvSpPr/>
          <p:nvPr/>
        </p:nvSpPr>
        <p:spPr>
          <a:xfrm>
            <a:off x="3977639" y="1280160"/>
            <a:ext cx="1737360" cy="1005840"/>
          </a:xfrm>
          <a:prstGeom prst="rect">
            <a:avLst/>
          </a:prstGeom>
          <a:solidFill>
            <a:srgbClr val="E8D5FF"/>
          </a:solidFill>
          <a:ln w="19050">
            <a:solidFill>
              <a:srgbClr val="8C4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23359" y="1371600"/>
            <a:ext cx="164591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>
                <a:solidFill>
                  <a:srgbClr val="222222"/>
                </a:solidFill>
              </a:rPr>
              <a:t>(3) Route 53
DNS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97880" y="1280160"/>
            <a:ext cx="1737360" cy="1005840"/>
          </a:xfrm>
          <a:prstGeom prst="rect">
            <a:avLst/>
          </a:prstGeom>
          <a:solidFill>
            <a:srgbClr val="FFD5EA"/>
          </a:solidFill>
          <a:ln w="19050">
            <a:solidFill>
              <a:srgbClr val="E715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0" y="1371600"/>
            <a:ext cx="164591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>
                <a:solidFill>
                  <a:srgbClr val="222222"/>
                </a:solidFill>
              </a:rPr>
              <a:t>(4) CloudFront
(Mailpit CDN)
+ Shared WAF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869680" y="1280160"/>
            <a:ext cx="2286000" cy="1005840"/>
          </a:xfrm>
          <a:prstGeom prst="rect">
            <a:avLst/>
          </a:prstGeom>
          <a:solidFill>
            <a:srgbClr val="FFE5CC"/>
          </a:solidFill>
          <a:ln w="19050">
            <a:solidFill>
              <a:srgbClr val="D86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15400" y="1371600"/>
            <a:ext cx="21945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>
                <a:solidFill>
                  <a:srgbClr val="222222"/>
                </a:solidFill>
              </a:rPr>
              <a:t>(5) Mailpit EC2
(EIP:8025)
Email Capture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92807" y="164592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2382B8"/>
                </a:solidFill>
              </a:rPr>
              <a:t>→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13048" y="164592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2382B8"/>
                </a:solidFill>
              </a:rPr>
              <a:t>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33288" y="164592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2382B8"/>
                </a:solidFill>
              </a:rPr>
              <a:t>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05088" y="164592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2382B8"/>
                </a:solidFill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577840" y="2514600"/>
            <a:ext cx="2926080" cy="960120"/>
          </a:xfrm>
          <a:prstGeom prst="rect">
            <a:avLst/>
          </a:prstGeom>
          <a:solidFill>
            <a:srgbClr val="FFE8E8"/>
          </a:solidFill>
          <a:ln w="19050">
            <a:solidFill>
              <a:srgbClr val="DD34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23560" y="2542032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DD344C"/>
                </a:solidFill>
              </a:rPr>
              <a:t>Existing WAF WebACL (Shared)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0" y="2834640"/>
            <a:ext cx="2743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51111"/>
                </a:solidFill>
              </a:rPr>
              <a:t>Same WebACL already used by:
  • Supreme Court CDN
  • Family Justice Courts CDN
  • State Courts CDN
Just attach Mailpit CloudFront to it.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37160" y="2514600"/>
            <a:ext cx="5303520" cy="960120"/>
          </a:xfrm>
          <a:prstGeom prst="rect">
            <a:avLst/>
          </a:prstGeom>
          <a:solidFill>
            <a:srgbClr val="F0FFF0"/>
          </a:solidFill>
          <a:ln w="19050">
            <a:solidFill>
              <a:srgbClr val="2488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82880" y="2542032"/>
            <a:ext cx="5212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248814"/>
                </a:solidFill>
              </a:rPr>
              <a:t>EC2 Security Group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2880" y="2834640"/>
            <a:ext cx="5212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114411"/>
                </a:solidFill>
              </a:rPr>
              <a:t>Port 8025 (web UI)  — Allow from CloudFront managed prefix list only
Port 1025 (SMTP)    — Allow from internal VPC CIDR (app servers)
Firewall rule: HTTPS (443) from CloudFront prefix list → EC2:8025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" y="73152"/>
            <a:ext cx="11795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</a:rPr>
              <a:t>Shared WAF WebACL — How It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804672"/>
            <a:ext cx="11612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F497D"/>
                </a:solidFill>
              </a:rPr>
              <a:t>Why reuse the existing WAF WebACL?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234440"/>
            <a:ext cx="1371600" cy="731520"/>
          </a:xfrm>
          <a:prstGeom prst="rect">
            <a:avLst/>
          </a:prstGeom>
          <a:solidFill>
            <a:srgbClr val="DAE8FC"/>
          </a:solidFill>
          <a:ln w="19050">
            <a:solidFill>
              <a:srgbClr val="6C8E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1399032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F497D"/>
                </a:solidFill>
              </a:rPr>
              <a:t>Cost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1344168"/>
            <a:ext cx="1014984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</a:rPr>
              <a:t>A WAF WebACL can be associated with multiple CloudFront distributions at no extra charge per distribution. There is no benefit to creating a separate WebACL for Mailpit.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2057400"/>
            <a:ext cx="1371600" cy="731520"/>
          </a:xfrm>
          <a:prstGeom prst="rect">
            <a:avLst/>
          </a:prstGeom>
          <a:solidFill>
            <a:srgbClr val="DAE8FC"/>
          </a:solidFill>
          <a:ln w="19050">
            <a:solidFill>
              <a:srgbClr val="6C8E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2221992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F497D"/>
                </a:solidFill>
              </a:rPr>
              <a:t>Consistency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83080" y="2167128"/>
            <a:ext cx="1014984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</a:rPr>
              <a:t>The existing WebACL already has the WOG/GSIB IP allowlist rules configured for the court CDNs. Adding the Mailpit CloudFront inherits those same rules instantly.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2880360"/>
            <a:ext cx="1371600" cy="731520"/>
          </a:xfrm>
          <a:prstGeom prst="rect">
            <a:avLst/>
          </a:prstGeom>
          <a:solidFill>
            <a:srgbClr val="DAE8FC"/>
          </a:solidFill>
          <a:ln w="19050">
            <a:solidFill>
              <a:srgbClr val="6C8E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0040" y="3044952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F497D"/>
                </a:solidFill>
              </a:rPr>
              <a:t>Simplicity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2990088"/>
            <a:ext cx="1014984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</a:rPr>
              <a:t>One WebACL to manage. If WOG egress IPs change, updating the IP set once covers all CDNs including Mailpit — no duplicate rule maintenance.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" y="3767328"/>
            <a:ext cx="11612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F497D"/>
                </a:solidFill>
              </a:rPr>
              <a:t>What to do — one step: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4160520"/>
            <a:ext cx="11612880" cy="1005840"/>
          </a:xfrm>
          <a:prstGeom prst="rect">
            <a:avLst/>
          </a:prstGeom>
          <a:solidFill>
            <a:srgbClr val="FFF2CC"/>
          </a:solidFill>
          <a:ln w="19050">
            <a:solidFill>
              <a:srgbClr val="D6B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" y="420624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332200"/>
                </a:solidFill>
              </a:rPr>
              <a:t>In the AWS Console (or CLI):
  1. Open the existing WAF WebACL used by the court CDNs (scope: CLOUDFRONT, region: us-east-1).
  2. Go to Associated AWS resources → Add association → select the Mailpit CloudFront distribution.
  3. Done — the same IP allowlist (WOG/GSIB egress IPs) now applies to Mailpit CDN too.
CLI: aws wafv2 associate-web-acl --scope CLOUDFRONT --region us-east-1 \
       --web-acl-arn &lt;existing-webacl-arn&gt; --resource-arn &lt;mailpit-cloudfront-arn&gt;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" y="5257800"/>
            <a:ext cx="11612880" cy="457200"/>
          </a:xfrm>
          <a:prstGeom prst="rect">
            <a:avLst/>
          </a:prstGeom>
          <a:solidFill>
            <a:srgbClr val="FFF0E0"/>
          </a:solidFill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92200"/>
                </a:solidFill>
              </a:rPr>
              <a:t>Note: WAF WebACL scope must be CLOUDFRONT and the WebACL must be in us-east-1 (this is an AWS requirement for CloudFront WAFs regardless of where your resources are).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" y="73152"/>
            <a:ext cx="11795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</a:rPr>
              <a:t>Intranet IP Allowlist — WAF Configuration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822960"/>
            <a:ext cx="1161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F497D"/>
                </a:solidFill>
              </a:rPr>
              <a:t>Q: Can we list specific IP ranges used by intranet users?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1234440"/>
            <a:ext cx="11612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48814"/>
                </a:solidFill>
              </a:rPr>
              <a:t>Yes — obtain WOG/GSIB egress CIDRs from GovTech/ITAS and add them to the existing WAF IP set.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1627632"/>
            <a:ext cx="11612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</a:rPr>
              <a:t>When intranet staff on GSIB/WOG notebooks browse the internet, their traffic exits through the government's central internet gateway (SGWAN). CloudFront sees the public egress IPs of that gateway — not individual device IPs. Those gateway CIDRs go into the WAF IP set.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2331720"/>
            <a:ext cx="11612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F497D"/>
                </a:solidFill>
              </a:rPr>
              <a:t>If the IP set already exists in the WAF WebACL: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2651760"/>
            <a:ext cx="116128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</a:rPr>
              <a:t>The IP set used for the court CDNs likely already contains the WOG egress IPs. Associating Mailpit CloudFront with the same WebACL means those IPs are automatically applied — no additional IP set changes needed.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3273552"/>
            <a:ext cx="11612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F497D"/>
                </a:solidFill>
              </a:rPr>
              <a:t>If you need to add/update IPs in the WAF IP set: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3630168"/>
            <a:ext cx="1645920" cy="731520"/>
          </a:xfrm>
          <a:prstGeom prst="rect">
            <a:avLst/>
          </a:prstGeom>
          <a:solidFill>
            <a:srgbClr val="DAE8FC"/>
          </a:solidFill>
          <a:ln w="19050">
            <a:solidFill>
              <a:srgbClr val="6C8E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" y="3813048"/>
            <a:ext cx="155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1F497D"/>
                </a:solidFill>
              </a:rPr>
              <a:t>Get CIDRs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3721608"/>
            <a:ext cx="987552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22222"/>
                </a:solidFill>
              </a:rPr>
              <a:t>Ask GovTech / ITAS / SGWAN network team for the public egress IP ranges of the WOG internet gateway.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4453128"/>
            <a:ext cx="1645920" cy="731520"/>
          </a:xfrm>
          <a:prstGeom prst="rect">
            <a:avLst/>
          </a:prstGeom>
          <a:solidFill>
            <a:srgbClr val="DAE8FC"/>
          </a:solidFill>
          <a:ln w="19050">
            <a:solidFill>
              <a:srgbClr val="6C8E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0040" y="4636008"/>
            <a:ext cx="155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1F497D"/>
                </a:solidFill>
              </a:rPr>
              <a:t>Update IP set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57400" y="4544568"/>
            <a:ext cx="987552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22222"/>
                </a:solidFill>
              </a:rPr>
              <a:t>aws wafv2 update-ip-set --scope CLOUDFRONT --region us-east-1 --name &lt;existing-ip-set-name&gt;
    --id &lt;ip-set-id&gt; --addresses &lt;CIDR1&gt; &lt;CIDR2&gt; ... --lock-token &lt;token&gt;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5276088"/>
            <a:ext cx="1645920" cy="731520"/>
          </a:xfrm>
          <a:prstGeom prst="rect">
            <a:avLst/>
          </a:prstGeom>
          <a:solidFill>
            <a:srgbClr val="DAE8FC"/>
          </a:solidFill>
          <a:ln w="19050">
            <a:solidFill>
              <a:srgbClr val="6C8E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0040" y="5458968"/>
            <a:ext cx="155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1F497D"/>
                </a:solidFill>
              </a:rPr>
              <a:t>Verify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57400" y="5367528"/>
            <a:ext cx="987552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22222"/>
                </a:solidFill>
              </a:rPr>
              <a:t>From a GSIB device: mailpit.xxx.gov.sg should load.  From a non-WOG IP: should get HTTP 403.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" y="6199632"/>
            <a:ext cx="11612880" cy="347472"/>
          </a:xfrm>
          <a:prstGeom prst="rect">
            <a:avLst/>
          </a:prstGeom>
          <a:solidFill>
            <a:srgbClr val="FFF0E0"/>
          </a:solidFill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92200"/>
                </a:solidFill>
              </a:rPr>
              <a:t>Do NOT open to 0.0.0.0/0 — Mailpit captures test emails that may contain sensitive data.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" y="73152"/>
            <a:ext cx="11795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</a:rPr>
              <a:t>Architecture Version Summary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914400"/>
            <a:ext cx="731520" cy="1188720"/>
          </a:xfrm>
          <a:prstGeom prst="rect">
            <a:avLst/>
          </a:prstGeom>
          <a:solidFill>
            <a:srgbClr val="2382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1234440"/>
            <a:ext cx="731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</a:rPr>
              <a:t>v5</a:t>
            </a:r>
          </a:p>
        </p:txBody>
      </p:sp>
      <p:sp>
        <p:nvSpPr>
          <p:cNvPr id="6" name="Rectangle 5"/>
          <p:cNvSpPr/>
          <p:nvPr/>
        </p:nvSpPr>
        <p:spPr>
          <a:xfrm>
            <a:off x="1143000" y="914400"/>
            <a:ext cx="1280160" cy="1188720"/>
          </a:xfrm>
          <a:prstGeom prst="rect">
            <a:avLst/>
          </a:prstGeom>
          <a:solidFill>
            <a:srgbClr val="EEEEEE"/>
          </a:solidFill>
          <a:ln w="19050">
            <a:solidFill>
              <a:srgbClr val="2382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20" y="1234440"/>
            <a:ext cx="1188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2382B8"/>
                </a:solidFill>
              </a:rPr>
              <a:t>Added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60320" y="1234440"/>
            <a:ext cx="9326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</a:rPr>
              <a:t>CloudFront, Route 53, WOG Domain, WAF (dedicated), ALB, Mailpit flow arrows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2286000"/>
            <a:ext cx="731520" cy="1188720"/>
          </a:xfrm>
          <a:prstGeom prst="rect">
            <a:avLst/>
          </a:prstGeom>
          <a:solidFill>
            <a:srgbClr val="D866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" y="2606040"/>
            <a:ext cx="731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</a:rPr>
              <a:t>v6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43000" y="2286000"/>
            <a:ext cx="1280160" cy="1188720"/>
          </a:xfrm>
          <a:prstGeom prst="rect">
            <a:avLst/>
          </a:prstGeom>
          <a:solidFill>
            <a:srgbClr val="EEEEEE"/>
          </a:solidFill>
          <a:ln w="19050">
            <a:solidFill>
              <a:srgbClr val="D86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88720" y="2606040"/>
            <a:ext cx="1188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D86613"/>
                </a:solidFill>
              </a:rPr>
              <a:t>Removed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0320" y="2606040"/>
            <a:ext cx="9326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</a:rPr>
              <a:t>ALB — not needed; CloudFront connects directly to Mailpit EC2 (EIP:8025)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3657600"/>
            <a:ext cx="731520" cy="1188720"/>
          </a:xfrm>
          <a:prstGeom prst="rect">
            <a:avLst/>
          </a:prstGeom>
          <a:solidFill>
            <a:srgbClr val="2488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4320" y="3977639"/>
            <a:ext cx="731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</a:rPr>
              <a:t>v7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3657600"/>
            <a:ext cx="1280160" cy="1188720"/>
          </a:xfrm>
          <a:prstGeom prst="rect">
            <a:avLst/>
          </a:prstGeom>
          <a:solidFill>
            <a:srgbClr val="EEEEEE"/>
          </a:solidFill>
          <a:ln w="19050">
            <a:solidFill>
              <a:srgbClr val="2488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8720" y="3977639"/>
            <a:ext cx="1188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248814"/>
                </a:solidFill>
              </a:rPr>
              <a:t>Updated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60320" y="3977639"/>
            <a:ext cx="9326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</a:rPr>
              <a:t>WAF — replaced dedicated Mailpit WAF with shared existing WAF WebACL (same one used by court CDNs)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" y="5120640"/>
            <a:ext cx="11612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F497D"/>
                </a:solidFill>
              </a:rPr>
              <a:t>Current architecture (v7) — final flow: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5486400"/>
            <a:ext cx="11612880" cy="1051560"/>
          </a:xfrm>
          <a:prstGeom prst="rect">
            <a:avLst/>
          </a:prstGeom>
          <a:solidFill>
            <a:srgbClr val="DAE8FC"/>
          </a:solidFill>
          <a:ln w="19050">
            <a:solidFill>
              <a:srgbClr val="6C8E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5532120"/>
            <a:ext cx="114300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F497D"/>
                </a:solidFill>
              </a:rPr>
              <a:t>GSIB Notebook  →  WOG Domain  →  Route 53  →  CloudFront (Mailpit CDN)
  → [Existing WAF WebACL — shared with court CDNs, WOG IP allowlist]
  → EC2 Security Group (port 8025, CloudFront prefix list only)  →  Mailpit EC2 (EIP:8025)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